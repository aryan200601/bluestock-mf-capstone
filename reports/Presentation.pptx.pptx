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project: an end-to-end mutual fund analytics platform built for Bluestock Fintech capstone. Mention the scale: 40 funds, 5,000+ investors, 32,000+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problem: analysts spend hours in Excel trying to compare dozens of funds. This platform automates that entirely. Walk through the 6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7 datasets. Emphasize that all data was cleaned, validated, and loaded into SQLite before any analytics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pipeline: raw CSVs → ETL in Python → SQLite storage → analytics engine computes all metrics → Power BI visualizes → delivers business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AUM growth chart showing near-tripling from 2022 to 2024. Then note the fund house bar chart: SBI dominates, followed by ICICI Prudential and HDFC.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donut chart: lumpsum vs redemption are almost equal. This is concerning — it suggests investors are redeeming as fast as they invest. The SIP share is very small and is an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6 metrics. Emphasize that the composite scorecard combines all of them into a single normalized score out of 100. UTI Mid Cap Fund scored a perfect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VaR: 'at 95% confidence, we expect to lose no more than 2.69% on any given day.' CVaR tells us what happens in the worst 5% — the tail risk. All top-5 are Small 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 advanced features: cohort analysis reveals behavioral changes across investor vintages. The recommendation engine makes the platform investor-facing, not just analyst-facing.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shows how concentrated a portfolio is. Sectoral/thematic funds are near 1.0 — very concentrated. Pair this with SIP data: liquid funds dominate inflows, but retail is gravitating toward sectoral/flexi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4 dashboard pages. Emphasize that all charts have interactive slicers for fund_house, category, and plan. Users can drill through to individual fund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6 key findings, 6 project deliverables all complete. Close with the tagline: this platform proves that rigorous analytics + visualization bridges data science and real-world financial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Raw Data into Actionable Investment Insights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 Kunal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aryankunal112233@gmail.com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Capstone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914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938528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505456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0545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072384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07238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639312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3741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41148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0F2252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41422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26480" y="45079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76288" y="41148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0F2252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76288" y="41422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76288" y="45079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26096" y="41148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0F2252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26096" y="41422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26096" y="45079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75904" y="41148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0F2252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75904" y="41422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75904" y="45079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1508760"/>
            <a:ext cx="33832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mutual fund datasets are extremely difficult to analyze manually at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96312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496312"/>
            <a:ext cx="33832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need clear performance, risk, and behavioral insights in one 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83864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" y="3483864"/>
            <a:ext cx="338328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reporting solution exists for multi-fund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86868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6868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868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150876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50876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1508760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Ingest, clean &amp; transform raw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508760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508760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1508760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fund and investor patterns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496312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96312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66360" y="2496312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CAGR, Sharpe, Sortino, Alpha, Beta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496312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2496312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78040" y="2496312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Analytics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VaR, CVaR, Drawdown analysis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3483864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483864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66360" y="3483864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Behavior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Cohort, SIP, transaction profiling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3483864"/>
            <a:ext cx="1874520" cy="841248"/>
          </a:xfrm>
          <a:prstGeom prst="roundRect">
            <a:avLst>
              <a:gd name="adj" fmla="val 8696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3483864"/>
            <a:ext cx="347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78040" y="3483864"/>
            <a:ext cx="1463040" cy="8412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Dashboard
</a:t>
            </a:r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Power BI report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PROJECT SCALE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Schemes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Houses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965960" cy="960120"/>
          </a:xfrm>
          <a:prstGeom prst="roundRect">
            <a:avLst>
              <a:gd name="adj" fmla="val 11429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22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65960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65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scheme metadata, categories, benchmarks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965960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965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NAV values for return computation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1576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15768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715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2715768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32K+ investor trades: SIP, Lumpsum, Redeem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1576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15768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2715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AUM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715768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AUM by fund house 2022–2025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46557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465576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3465576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investment flows by category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46557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465576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346557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3465576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data for alpha &amp; beta calculation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14600" y="421538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14600" y="4215384"/>
            <a:ext cx="228600" cy="658368"/>
          </a:xfrm>
          <a:prstGeom prst="roundRect">
            <a:avLst>
              <a:gd name="adj" fmla="val 32000"/>
            </a:avLst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2834640" y="42153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Holdings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4215384"/>
            <a:ext cx="18288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weights for HHI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965960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47088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04288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04288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92808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92808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2968" y="1965960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74136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31336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9856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9856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1965960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1184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58384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58384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46904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46904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1965960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85432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85432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73952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73952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dashboard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54112" y="1965960"/>
            <a:ext cx="20116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0" y="960120"/>
            <a:ext cx="1325880" cy="2011680"/>
          </a:xfrm>
          <a:prstGeom prst="roundRect">
            <a:avLst>
              <a:gd name="adj" fmla="val 8276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0" y="102412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01000" y="1554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01000" y="2084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Technologies: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0040" y="365760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57400" y="365760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205740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794760" y="365760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379476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32120" y="365760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553212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365760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374151"/>
          </a:solidFill>
          <a:ln/>
        </p:spPr>
      </p:sp>
      <p:sp>
        <p:nvSpPr>
          <p:cNvPr id="49" name="Text 47"/>
          <p:cNvSpPr/>
          <p:nvPr/>
        </p:nvSpPr>
        <p:spPr>
          <a:xfrm>
            <a:off x="7269480" y="36576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ANALYSIS — AUM TRENDS &amp; FUND HOUSES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943600" cy="329184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7772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822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10528" y="1325880"/>
            <a:ext cx="2249424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6510528" y="13258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87768" y="13258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 Crore)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10528" y="2011680"/>
            <a:ext cx="2249424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6510528" y="20116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87768" y="20116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10528" y="2697480"/>
            <a:ext cx="2249424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/>
        </p:spPr>
      </p:sp>
      <p:sp>
        <p:nvSpPr>
          <p:cNvPr id="14" name="Text 11"/>
          <p:cNvSpPr/>
          <p:nvPr/>
        </p:nvSpPr>
        <p:spPr>
          <a:xfrm>
            <a:off x="6510528" y="26974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MF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87768" y="26974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House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10528" y="3383280"/>
            <a:ext cx="2249424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6510528" y="3383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Houses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87768" y="3383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&gt;50%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AUM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206240"/>
            <a:ext cx="832104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number of fund houses manage the majority of industry assets. The 2024 AUM surge reflects a bull run period — analysts should watch 2025 moderation closely.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ANALYTICS — BEHAVIOR &amp; TRANSACTIONS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943600" cy="329184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777240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0" y="77724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49.3%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0" y="7772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Lumpsum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0" y="1581912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58191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48.6%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0" y="15819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2386584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16A34A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23865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98080" y="238658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3191256"/>
            <a:ext cx="2468880" cy="713232"/>
          </a:xfrm>
          <a:prstGeom prst="roundRect">
            <a:avLst>
              <a:gd name="adj" fmla="val 12821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0" y="319125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Groups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498080" y="319125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Segments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206240"/>
            <a:ext cx="8321040" cy="7132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near-equal split between lumpsum purchases and redemptions signals high portfolio turnover. Platforms should deploy SIP nudges to convert one-time investors into recurring SIP participants.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ANALYTICS &amp; SCORECARD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Computed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4630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Annual Growth Rate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11887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2313432" y="11887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13432" y="14630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per unit of total risk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8745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" y="21488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per unit of downside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8745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2313432" y="18745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13432" y="21488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return above benchmark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2560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sensitivity coefficient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2560320"/>
            <a:ext cx="178308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2313432" y="2560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13432" y="283464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Peak-to-trough decline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73552"/>
            <a:ext cx="3840480" cy="160020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24" name="Text 21"/>
          <p:cNvSpPr/>
          <p:nvPr/>
        </p:nvSpPr>
        <p:spPr>
          <a:xfrm>
            <a:off x="434340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Ranked Funds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343400" y="1188720"/>
            <a:ext cx="4480560" cy="576072"/>
          </a:xfrm>
          <a:prstGeom prst="roundRect">
            <a:avLst>
              <a:gd name="adj" fmla="val 12698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07408" y="1271016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440740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64608" y="1188720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102886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87568" y="118872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 Mid Cap – Regular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973568" y="1188720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343400" y="1856232"/>
            <a:ext cx="44805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407408" y="1938528"/>
            <a:ext cx="402336" cy="40233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3" name="Text 30"/>
          <p:cNvSpPr/>
          <p:nvPr/>
        </p:nvSpPr>
        <p:spPr>
          <a:xfrm>
            <a:off x="440740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864608" y="1856232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100016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687568" y="1856232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– Regular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973568" y="1856232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99.10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343400" y="2523744"/>
            <a:ext cx="44805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407408" y="2606040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9" name="Text 36"/>
          <p:cNvSpPr/>
          <p:nvPr/>
        </p:nvSpPr>
        <p:spPr>
          <a:xfrm>
            <a:off x="440740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864608" y="2523744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119095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687568" y="2523744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Small Cap – Regular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973568" y="2523744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93.43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343400" y="3191256"/>
            <a:ext cx="44805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407408" y="327355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2"/>
          <p:cNvSpPr/>
          <p:nvPr/>
        </p:nvSpPr>
        <p:spPr>
          <a:xfrm>
            <a:off x="4407408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864608" y="3191256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119599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87568" y="3191256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– Direct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973568" y="3191256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86.87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4343400" y="3858768"/>
            <a:ext cx="448056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407408" y="394106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407408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864608" y="3858768"/>
            <a:ext cx="822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119092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687568" y="3858768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Bluechip – Regular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973568" y="3858768"/>
            <a:ext cx="777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85.90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RISK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at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(VaR 95%)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expected loss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95% confidence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41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Cond. VaR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(CVaR 95%)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loss in worst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of scenarios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41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Peak-to-trough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measure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41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Sharpe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Time-varying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risk-adj. return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Downside Risk — Top 5 Funds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8503920" cy="38404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514600"/>
            <a:ext cx="1097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514600"/>
            <a:ext cx="4754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(95%)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CVaR (95%)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8503920" cy="365760"/>
          </a:xfrm>
          <a:prstGeom prst="rect">
            <a:avLst/>
          </a:prstGeom>
          <a:solidFill>
            <a:srgbClr val="1A306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44368"/>
            <a:ext cx="1097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119599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Fund – Direct – Growth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944368"/>
            <a:ext cx="1234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-2.69%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2944368"/>
            <a:ext cx="1188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-3.24%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328416"/>
            <a:ext cx="8503920" cy="365760"/>
          </a:xfrm>
          <a:prstGeom prst="rect">
            <a:avLst/>
          </a:prstGeom>
          <a:solidFill>
            <a:srgbClr val="14255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328416"/>
            <a:ext cx="1097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119095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Small Cap Fund – Regular – Growth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328416"/>
            <a:ext cx="1234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-2.62%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2668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-3.17%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712464"/>
            <a:ext cx="8503920" cy="365760"/>
          </a:xfrm>
          <a:prstGeom prst="rect">
            <a:avLst/>
          </a:prstGeom>
          <a:solidFill>
            <a:srgbClr val="1A3060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3712464"/>
            <a:ext cx="1097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3712464"/>
            <a:ext cx="4754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ABSL Small Cap Fund – Regular – Growth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712464"/>
            <a:ext cx="1234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-2.60%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3712464"/>
            <a:ext cx="1188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-3.25%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096512"/>
            <a:ext cx="8503920" cy="365760"/>
          </a:xfrm>
          <a:prstGeom prst="rect">
            <a:avLst/>
          </a:prstGeom>
          <a:solidFill>
            <a:srgbClr val="142550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096512"/>
            <a:ext cx="1097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118634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63040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Nippon India Small Cap – Regular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096512"/>
            <a:ext cx="1234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-2.54%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4096512"/>
            <a:ext cx="1188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-3.23%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solidFill>
            <a:srgbClr val="1A3060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119598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46304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Fund – Regular – Growth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480560"/>
            <a:ext cx="12344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-2.45%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4480560"/>
            <a:ext cx="11887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-3.06%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top-5 highest-risk funds are Small Cap equity schemes — consistent with their higher volatility profiles.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— COHORTS &amp;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Cohort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Cohort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Investment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₹1,07,423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₹3.49 Billion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Liquid – Direct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23444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261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Cohort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737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Investment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₹1,09,159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₹30.46 Million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017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– Direct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114800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investors average ₹1,736 more per transaction — indicating growing ticket sizes and financial confidence.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Recommendation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297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34440"/>
            <a:ext cx="1188720" cy="841248"/>
          </a:xfrm>
          <a:prstGeom prst="roundRect">
            <a:avLst>
              <a:gd name="adj" fmla="val 10870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123444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12710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&gt; 0, Drawdown &gt; -10%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16550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Debt / Liquid / Short Duration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194560"/>
            <a:ext cx="4297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194560"/>
            <a:ext cx="1188720" cy="841248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219456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2231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&gt; -0.5, DD &gt; -25%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2615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Large Cap / Flexi Cap / Hybrid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154680"/>
            <a:ext cx="4297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154680"/>
            <a:ext cx="1188720" cy="841248"/>
          </a:xfrm>
          <a:prstGeom prst="roundRect">
            <a:avLst>
              <a:gd name="adj" fmla="val 10870"/>
            </a:avLst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154680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3191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CAGR, Alpha &gt; 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52160" y="35753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Small Cap / Mid Cap / ELSS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4133088"/>
            <a:ext cx="4297680" cy="4114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4133088"/>
            <a:ext cx="4114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Top 3 fund recommendations per risk profile using quantitative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CONCENTRATION &amp; SIP MARKET TRENDS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Sector Concentration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= Σ(sector_weight²)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Sectoral / Thematic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0" y="1746504"/>
            <a:ext cx="272034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79492" y="16916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Cap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185416"/>
            <a:ext cx="1664208" cy="256032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2130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69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&amp; Mid Cap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2624328"/>
            <a:ext cx="1216152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575304" y="25694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008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3063240"/>
            <a:ext cx="896112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255264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447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 Cap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0" y="3502152"/>
            <a:ext cx="704088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3447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886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/ ETF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3941064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886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590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HHI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Concentrated  | 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HHI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Diversified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804672"/>
            <a:ext cx="4206240" cy="292608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27" name="Text 24"/>
          <p:cNvSpPr/>
          <p:nvPr/>
        </p:nvSpPr>
        <p:spPr>
          <a:xfrm>
            <a:off x="4663440" y="38221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SIP Inflow Categories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63440" y="4224528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4224528"/>
            <a:ext cx="109728" cy="256032"/>
          </a:xfrm>
          <a:prstGeom prst="roundRect">
            <a:avLst>
              <a:gd name="adj" fmla="val 41667"/>
            </a:avLst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4224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15200" y="42245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451,275 Cr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4517136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4663440" y="4517136"/>
            <a:ext cx="109728" cy="256032"/>
          </a:xfrm>
          <a:prstGeom prst="roundRect">
            <a:avLst>
              <a:gd name="adj" fmla="val 41667"/>
            </a:avLst>
          </a:prstGeom>
          <a:solidFill>
            <a:srgbClr val="EA580C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0" y="4517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Sectoral/Thematic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315200" y="45171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103,829 Cr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4809744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</p:sp>
      <p:sp>
        <p:nvSpPr>
          <p:cNvPr id="37" name="Shape 34"/>
          <p:cNvSpPr/>
          <p:nvPr/>
        </p:nvSpPr>
        <p:spPr>
          <a:xfrm>
            <a:off x="4663440" y="4809744"/>
            <a:ext cx="109728" cy="256032"/>
          </a:xfrm>
          <a:prstGeom prst="roundRect">
            <a:avLst>
              <a:gd name="adj" fmla="val 41667"/>
            </a:avLst>
          </a:prstGeom>
          <a:solidFill>
            <a:srgbClr val="7C3AED"/>
          </a:solidFill>
          <a:ln/>
        </p:spPr>
      </p:sp>
      <p:sp>
        <p:nvSpPr>
          <p:cNvPr id="38" name="Text 35"/>
          <p:cNvSpPr/>
          <p:nvPr/>
        </p:nvSpPr>
        <p:spPr>
          <a:xfrm>
            <a:off x="4846320" y="4809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 Cap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315200" y="48097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63,989 Cr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INTERACTIVE PAGES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4251960" cy="187452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28600" y="2706624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1B3A6B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" y="270662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 — Industry Overview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04672"/>
            <a:ext cx="4251960" cy="187452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4754880" y="2706624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1B3A6B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270662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— Fund Performance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80944"/>
            <a:ext cx="4251960" cy="187452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11" name="Shape 6"/>
          <p:cNvSpPr/>
          <p:nvPr/>
        </p:nvSpPr>
        <p:spPr>
          <a:xfrm>
            <a:off x="228600" y="4882896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1B3A6B"/>
          </a:solidFill>
          <a:ln/>
        </p:spPr>
      </p:sp>
      <p:sp>
        <p:nvSpPr>
          <p:cNvPr id="12" name="Text 7"/>
          <p:cNvSpPr/>
          <p:nvPr/>
        </p:nvSpPr>
        <p:spPr>
          <a:xfrm>
            <a:off x="228600" y="48828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— Investor Analytics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980944"/>
            <a:ext cx="4251960" cy="1874520"/>
          </a:xfrm>
          <a:prstGeom prst="rect">
            <a:avLst/>
          </a:prstGeom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pic>
      <p:sp>
        <p:nvSpPr>
          <p:cNvPr id="14" name="Shape 8"/>
          <p:cNvSpPr/>
          <p:nvPr/>
        </p:nvSpPr>
        <p:spPr>
          <a:xfrm>
            <a:off x="4754880" y="4882896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1B3A6B"/>
          </a:solidFill>
          <a:ln/>
        </p:spPr>
      </p:sp>
      <p:sp>
        <p:nvSpPr>
          <p:cNvPr id="15" name="Text 9"/>
          <p:cNvSpPr/>
          <p:nvPr/>
        </p:nvSpPr>
        <p:spPr>
          <a:xfrm>
            <a:off x="4754880" y="48828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— SIP &amp; Market Trends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228600" y="4864608"/>
            <a:ext cx="160020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7" name="Text 11"/>
          <p:cNvSpPr/>
          <p:nvPr/>
        </p:nvSpPr>
        <p:spPr>
          <a:xfrm>
            <a:off x="228600" y="4864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984248" y="4864608"/>
            <a:ext cx="160020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9" name="Text 13"/>
          <p:cNvSpPr/>
          <p:nvPr/>
        </p:nvSpPr>
        <p:spPr>
          <a:xfrm>
            <a:off x="1984248" y="4864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Slicers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739896" y="4864608"/>
            <a:ext cx="160020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1" name="Text 15"/>
          <p:cNvSpPr/>
          <p:nvPr/>
        </p:nvSpPr>
        <p:spPr>
          <a:xfrm>
            <a:off x="3739896" y="4864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Through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495544" y="4864608"/>
            <a:ext cx="160020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3" name="Text 17"/>
          <p:cNvSpPr/>
          <p:nvPr/>
        </p:nvSpPr>
        <p:spPr>
          <a:xfrm>
            <a:off x="5495544" y="4864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51192" y="4864608"/>
            <a:ext cx="1600200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25" name="Text 19"/>
          <p:cNvSpPr/>
          <p:nvPr/>
        </p:nvSpPr>
        <p:spPr>
          <a:xfrm>
            <a:off x="7251192" y="4864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FINDINGS, ACHIEVEMENTS &amp; CONCLUSION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9844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AUM showed consistent growth; 2024 was peak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86537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80136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is the dominant long-term investment channel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68296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432304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36829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 Mid Cap (102886) achieved highest composite score: 100.00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299923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93522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top-5 highest-risk funds are Small Cap equity schemes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02152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356616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5021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cohort invests ₹1,736 more per transaction vs 2024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69080"/>
            <a:ext cx="5029200" cy="475488"/>
          </a:xfrm>
          <a:prstGeom prst="roundRect">
            <a:avLst>
              <a:gd name="adj" fmla="val 15385"/>
            </a:avLst>
          </a:prstGeom>
          <a:solidFill>
            <a:srgbClr val="1A3060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413308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analysis reveals Sectoral funds have highest concentration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804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77840" y="123444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12344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43600" y="123444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9480" y="123444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12344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35240" y="123444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Analytics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205740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20574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943600" y="205740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Analytics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69480" y="205740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20574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35240" y="205740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Analytics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288036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5577840" y="28803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943600" y="288036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9480" y="2880360"/>
            <a:ext cx="1572768" cy="68580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7269480" y="288036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635240" y="2880360"/>
            <a:ext cx="116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617720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Mutual Fund Data into Actionable Investment Insights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577840" y="404164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577840" y="4498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aryankunal112233@gmail.com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Aryan Kunal</dc:creator>
  <cp:lastModifiedBy>Aryan Kunal</cp:lastModifiedBy>
  <cp:revision>1</cp:revision>
  <dcterms:created xsi:type="dcterms:W3CDTF">2026-06-10T06:58:08Z</dcterms:created>
  <dcterms:modified xsi:type="dcterms:W3CDTF">2026-06-10T06:58:08Z</dcterms:modified>
</cp:coreProperties>
</file>